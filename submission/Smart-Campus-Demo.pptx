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60ea72ffab42b4" /><Relationship Type="http://schemas.openxmlformats.org/officeDocument/2006/relationships/extended-properties" Target="/docProps/app.xml" Id="R7bf0842b9b9347d8" /><Relationship Type="http://schemas.openxmlformats.org/officeDocument/2006/relationships/officeDocument" Target="/ppt/presentation.xml" Id="R47e45b4a2fcc44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dbfc61dc404b0c"/>
  </p:sldMasterIdLst>
  <p:notesMasterIdLst>
    <p:notesMasterId xmlns:r="http://schemas.openxmlformats.org/officeDocument/2006/relationships" r:id="Rc9ef2e0a2cb94a65"/>
  </p:notesMasterIdLst>
  <p:sldIdLst>
    <p:sldId xmlns:r="http://schemas.openxmlformats.org/officeDocument/2006/relationships" id="256" r:id="R3d75338a797240c0"/>
    <p:sldId xmlns:r="http://schemas.openxmlformats.org/officeDocument/2006/relationships" id="257" r:id="R058b4f6f693448c7"/>
    <p:sldId xmlns:r="http://schemas.openxmlformats.org/officeDocument/2006/relationships" id="258" r:id="R889476af5c074e63"/>
    <p:sldId xmlns:r="http://schemas.openxmlformats.org/officeDocument/2006/relationships" id="259" r:id="R6131d133d6b94594"/>
    <p:sldId xmlns:r="http://schemas.openxmlformats.org/officeDocument/2006/relationships" id="260" r:id="R006bc4a03ba14282"/>
    <p:sldId xmlns:r="http://schemas.openxmlformats.org/officeDocument/2006/relationships" id="261" r:id="R7a95ce73160e44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4bc6a48f254fb2" /><Relationship Type="http://schemas.openxmlformats.org/officeDocument/2006/relationships/slideMaster" Target="/ppt/slideMasters/slideMaster1.xml" Id="R76dbfc61dc404b0c" /><Relationship Type="http://schemas.openxmlformats.org/officeDocument/2006/relationships/notesMaster" Target="/ppt/notesMasters/notesMaster1.xml" Id="Rc9ef2e0a2cb94a65" /><Relationship Type="http://schemas.openxmlformats.org/officeDocument/2006/relationships/presProps" Target="/ppt/presProps.xml" Id="Rbc75327d81764634" /><Relationship Type="http://schemas.openxmlformats.org/officeDocument/2006/relationships/tableStyles" Target="/ppt/tableStyles.xml" Id="R99cbe0977db64c98" /><Relationship Type="http://schemas.openxmlformats.org/officeDocument/2006/relationships/slide" Target="/ppt/slides/slide1.xml" Id="R3d75338a797240c0" /><Relationship Type="http://schemas.openxmlformats.org/officeDocument/2006/relationships/slide" Target="/ppt/slides/slide2.xml" Id="R058b4f6f693448c7" /><Relationship Type="http://schemas.openxmlformats.org/officeDocument/2006/relationships/slide" Target="/ppt/slides/slide3.xml" Id="R889476af5c074e63" /><Relationship Type="http://schemas.openxmlformats.org/officeDocument/2006/relationships/slide" Target="/ppt/slides/slide4.xml" Id="R6131d133d6b94594" /><Relationship Type="http://schemas.openxmlformats.org/officeDocument/2006/relationships/slide" Target="/ppt/slides/slide5.xml" Id="R006bc4a03ba14282" /><Relationship Type="http://schemas.openxmlformats.org/officeDocument/2006/relationships/slide" Target="/ppt/slides/slide6.xml" Id="R7a95ce73160e44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733545897f41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0ba95891004af7" /><Relationship Type="http://schemas.openxmlformats.org/officeDocument/2006/relationships/notesMaster" Target="/ppt/notesMasters/notesMaster1.xml" Id="R3ea0bb3274c248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dd0f00c6154a63" /><Relationship Type="http://schemas.openxmlformats.org/officeDocument/2006/relationships/notesMaster" Target="/ppt/notesMasters/notesMaster1.xml" Id="R43d3f12aaf7645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04d69945b94d8d" /><Relationship Type="http://schemas.openxmlformats.org/officeDocument/2006/relationships/notesMaster" Target="/ppt/notesMasters/notesMaster1.xml" Id="Rbf4fdc17c7fe4d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8bed65444a4afb" /><Relationship Type="http://schemas.openxmlformats.org/officeDocument/2006/relationships/notesMaster" Target="/ppt/notesMasters/notesMaster1.xml" Id="R656279accfc24d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b0c421de9e4b2d" /><Relationship Type="http://schemas.openxmlformats.org/officeDocument/2006/relationships/notesMaster" Target="/ppt/notesMasters/notesMaster1.xml" Id="R7215593dc59643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48bda3252446a2" /><Relationship Type="http://schemas.openxmlformats.org/officeDocument/2006/relationships/notesMaster" Target="/ppt/notesMasters/notesMaster1.xml" Id="Rc36fd243822b41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the running app. Explain fragmented campus data and the need for a unified student view. This deck describes the supplied prototype and synthetic data, not a real institution.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Data import. Preview sample_sources/attendance_dirty_demo.csv. The backend reports 1 accepted, 3 rejected and 1 skipped row without changing the DB. Data source: supplied campus.db generated with seed.py and demo_data.py.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Formula: sum(weight × normalized index / 100). With missing domains, renormalize only when available weights total at least 60. Otherwise Unrated. Indicators and thresholds are prototype assumptions. The seven weights total 100.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Counts are computed from the bundled campus.db before any demonstration edits. Academic and placement flags overlap and must not be added. Forty-one students belong to the strong-academics, low-placement-readiness segment. The deck provides no causal impact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Segments choose a group, open a student and review score drivers, exact risk reasons and AI contributors. Add an action and mark it completed. In Trends show the cohort count and capture a current snapshot. July to September history is explicitly simulated. Sign in as Faculty and Student to show the scope boundaries.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includes a genuine fitted logistic regression model for each outcome and standard-library inference. train_model.py reproduces training. Both models use 4,000 simulated examples with a 75/25 split. Tests verify application behavior, not predictive validity. Explain that real outcome data and validation are required before institutional use. Finish by opening submission/REQUIREMENTS_CHECKLIST.md and SUCCESS_SCORE_NOTE.md.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71a4bf17bd4c3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a52912547d424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39994724354d4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26706d66344f5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57198609b14ef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1c3fc0c38345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16CAE6-A2E9-4AD5-84EB-1320D49FE4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F461372-0A31-40FB-B7F5-A944EA008A7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06F3D8E-030A-4B27-BC8A-56B41C1002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96EE33-1705-4660-A6AC-8416BDFF08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C6B36F0-1A22-4943-9FF1-9F3061A4F2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ABD1DB9-8899-4FEC-9B93-2B66495D4C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A48A14-1949-4469-8934-B7793FC596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15530F1-8B5E-4F8B-A4A1-95DA066379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CF9913-46B7-47D6-A13B-DDB088FD3F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13B039-4846-464B-9EE6-D9AE735271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2fc832142e4443" /><Relationship Type="http://schemas.openxmlformats.org/officeDocument/2006/relationships/slideLayout" Target="/ppt/slideLayouts/slideLayout1.xml" Id="R0cf35bc10cc94fb9" /><Relationship Type="http://schemas.openxmlformats.org/officeDocument/2006/relationships/slideLayout" Target="/ppt/slideLayouts/slideLayout2.xml" Id="R8b16e40f0869443f" /><Relationship Type="http://schemas.openxmlformats.org/officeDocument/2006/relationships/slideLayout" Target="/ppt/slideLayouts/slideLayout3.xml" Id="R32b24854e31d4ca8" /><Relationship Type="http://schemas.openxmlformats.org/officeDocument/2006/relationships/slideLayout" Target="/ppt/slideLayouts/slideLayout4.xml" Id="R94d8e428cf494d1f" /><Relationship Type="http://schemas.openxmlformats.org/officeDocument/2006/relationships/slideLayout" Target="/ppt/slideLayouts/slideLayout5.xml" Id="R3a41cdea70cb4279" /><Relationship Type="http://schemas.openxmlformats.org/officeDocument/2006/relationships/slideLayout" Target="/ppt/slideLayouts/slideLayout6.xml" Id="R6f3c37f13f2e44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f35bc10cc94fb9"/>
    <p:sldLayoutId xmlns:r="http://schemas.openxmlformats.org/officeDocument/2006/relationships" id="2147483650" r:id="R8b16e40f0869443f"/>
    <p:sldLayoutId xmlns:r="http://schemas.openxmlformats.org/officeDocument/2006/relationships" id="2147483651" r:id="R32b24854e31d4ca8"/>
    <p:sldLayoutId xmlns:r="http://schemas.openxmlformats.org/officeDocument/2006/relationships" id="2147483652" r:id="R94d8e428cf494d1f"/>
    <p:sldLayoutId xmlns:r="http://schemas.openxmlformats.org/officeDocument/2006/relationships" id="2147483653" r:id="R3a41cdea70cb4279"/>
    <p:sldLayoutId xmlns:r="http://schemas.openxmlformats.org/officeDocument/2006/relationships" id="2147483654" r:id="R6f3c37f13f2e44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baf5dd8d504760" /><Relationship Type="http://schemas.openxmlformats.org/officeDocument/2006/relationships/notesSlide" Target="/ppt/notesSlides/notesSlide1.xml" Id="R583e2873a88042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5bdf9a3b1447c5" /><Relationship Type="http://schemas.openxmlformats.org/officeDocument/2006/relationships/chart" Target="/ppt/slides/charts/chart1.xml" Id="R3fe1291769dc4f76" /><Relationship Type="http://schemas.openxmlformats.org/officeDocument/2006/relationships/notesSlide" Target="/ppt/notesSlides/notesSlide2.xml" Id="R527250fd92b64f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76d153a0ee49fe" /><Relationship Type="http://schemas.openxmlformats.org/officeDocument/2006/relationships/chart" Target="/ppt/slides/charts/chart2.xml" Id="R1c67049a5b524051" /><Relationship Type="http://schemas.openxmlformats.org/officeDocument/2006/relationships/notesSlide" Target="/ppt/notesSlides/notesSlide3.xml" Id="R93f09f1d10e542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6bcbc9dedf4a2c" /><Relationship Type="http://schemas.openxmlformats.org/officeDocument/2006/relationships/chart" Target="/ppt/slides/charts/chart3.xml" Id="Raccdea31c81a46e8" /><Relationship Type="http://schemas.openxmlformats.org/officeDocument/2006/relationships/notesSlide" Target="/ppt/notesSlides/notesSlide4.xml" Id="Ra121ec1ed42047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7804a789a14861" /><Relationship Type="http://schemas.openxmlformats.org/officeDocument/2006/relationships/notesSlide" Target="/ppt/notesSlides/notesSlide5.xml" Id="R6ec5262394e341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035765bc0b4e2d" /><Relationship Type="http://schemas.openxmlformats.org/officeDocument/2006/relationships/notesSlide" Target="/ppt/notesSlides/notesSlide6.xml" Id="Ra5932c72c66445e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Students with source data</c:v>
          </c:tx>
          <c:spPr>
            <a:solidFill xmlns:a="http://schemas.openxmlformats.org/drawingml/2006/main">
              <a:srgbClr val="6277D6"/>
            </a:solidFill>
          </c:spPr>
          <c:cat>
            <c:strRef>
              <c:f>'Chart Data'!$A$2:$A$8</c:f>
              <c:strCache>
                <c:ptCount val="7"/>
                <c:pt idx="0">
                  <c:v>Academic</c:v>
                </c:pt>
                <c:pt idx="1">
                  <c:v>Attendance</c:v>
                </c:pt>
                <c:pt idx="2">
                  <c:v>LMS</c:v>
                </c:pt>
                <c:pt idx="3">
                  <c:v>Placement</c:v>
                </c:pt>
                <c:pt idx="4">
                  <c:v>Skills</c:v>
                </c:pt>
                <c:pt idx="5">
                  <c:v>Engagement</c:v>
                </c:pt>
                <c:pt idx="6">
                  <c:v>Feedback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300</c:v>
                </c:pt>
                <c:pt idx="1">
                  <c:v>300</c:v>
                </c:pt>
                <c:pt idx="2">
                  <c:v>295</c:v>
                </c:pt>
                <c:pt idx="3">
                  <c:v>297</c:v>
                </c:pt>
                <c:pt idx="4">
                  <c:v>300</c:v>
                </c:pt>
                <c:pt idx="5">
                  <c:v>300</c:v>
                </c:pt>
                <c:pt idx="6">
                  <c:v>300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83755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5F1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17A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8FF"/>
        </a:solidFill>
      </c:spPr>
    </c:plotArea>
    <c:plotVisOnly val="1"/>
  </c:chart>
  <c:spPr>
    <a:solidFill xmlns:a="http://schemas.openxmlformats.org/drawingml/2006/main">
      <a:srgbClr val="F6F8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Weight</c:v>
          </c:tx>
          <c:spPr>
            <a:solidFill xmlns:a="http://schemas.openxmlformats.org/drawingml/2006/main">
              <a:srgbClr val="6277D6"/>
            </a:solidFill>
          </c:spPr>
          <c:cat>
            <c:strRef>
              <c:f>'Chart Data'!$A$2:$A$8</c:f>
              <c:strCache>
                <c:ptCount val="7"/>
                <c:pt idx="0">
                  <c:v>Academic</c:v>
                </c:pt>
                <c:pt idx="1">
                  <c:v>Attendance</c:v>
                </c:pt>
                <c:pt idx="2">
                  <c:v>Placement</c:v>
                </c:pt>
                <c:pt idx="3">
                  <c:v>LMS</c:v>
                </c:pt>
                <c:pt idx="4">
                  <c:v>Skills</c:v>
                </c:pt>
                <c:pt idx="5">
                  <c:v>Engagement</c:v>
                </c:pt>
                <c:pt idx="6">
                  <c:v>Feedback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30</c:v>
                </c:pt>
                <c:pt idx="1">
                  <c:v>20</c:v>
                </c:pt>
                <c:pt idx="2">
                  <c:v>15</c:v>
                </c:pt>
                <c:pt idx="3">
                  <c:v>12</c:v>
                </c:pt>
                <c:pt idx="4">
                  <c:v>10</c:v>
                </c:pt>
                <c:pt idx="5">
                  <c:v>8</c:v>
                </c:pt>
                <c:pt idx="6">
                  <c:v>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83755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5F1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17A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8FF"/>
        </a:solidFill>
      </c:spPr>
    </c:plotArea>
    <c:plotVisOnly val="1"/>
  </c:chart>
  <c:spPr>
    <a:solidFill xmlns:a="http://schemas.openxmlformats.org/drawingml/2006/main">
      <a:srgbClr val="F6F8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Students by overall risk</c:v>
          </c:tx>
          <c:spPr>
            <a:solidFill xmlns:a="http://schemas.openxmlformats.org/drawingml/2006/main">
              <a:srgbClr val="6277D6"/>
            </a:solidFill>
          </c:spPr>
          <c:cat>
            <c:strRef>
              <c:f>'Chart Data'!$A$2:$A$4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38</c:v>
                </c:pt>
                <c:pt idx="1">
                  <c:v>81</c:v>
                </c:pt>
                <c:pt idx="2">
                  <c:v>181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83755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5F1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17A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8FF"/>
        </a:solidFill>
      </c:spPr>
    </c:plotArea>
    <c:plotVisOnly val="1"/>
  </c:chart>
  <c:spPr>
    <a:solidFill xmlns:a="http://schemas.openxmlformats.org/drawingml/2006/main">
      <a:srgbClr val="F6F8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0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C7164-E9AB-4D10-BD25-D89C5344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293B8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293B8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293B8F"/>
                </a:solidFill>
                <a:latin typeface="DejaVu Sans"/>
                <a:ea typeface="DejaVu Sans"/>
                <a:cs typeface="DejaVu Sans"/>
              </a:rPr>
              <a:t>Smart Campus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7F969-659D-4036-8FDF-FD4145DF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717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Predict, optimize and improve student success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F2403-C446-4D6C-8192-ECFBDF96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A working Flask prototype that connects seven data sources</a:t>
            </a:r>
          </a:p>
          <a:p xmlns:a="http://schemas.openxmlformats.org/drawingml/2006/main">
            <a:pPr>
              <a:defRPr sz="2175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and helps faculty plan targeted student support.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A9C13-5376-4522-8715-1EB8BE40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1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17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17A"/>
                </a:solidFill>
                <a:latin typeface="DejaVu Sans"/>
                <a:ea typeface="DejaVu Sans"/>
                <a:cs typeface="DejaVu Sans"/>
              </a:rPr>
              <a:t>Demo: 300 synthetic students, scoped access and local AI inference</a:t>
            </a:r>
          </a:p>
        </p:txBody>
      </p:sp>
    </p:spTree>
    <p:extLst>
      <p:ext uri="{BB962C8B-B14F-4D97-AF65-F5344CB8AC3E}">
        <p14:creationId xmlns:p14="http://schemas.microsoft.com/office/powerpoint/2010/main" val="8203641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D49FD-71E4-46AC-BECC-37A2B679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3B8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93B8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93B8F"/>
                </a:solidFill>
                <a:latin typeface="DejaVu Sans"/>
                <a:ea typeface="DejaVu Sans"/>
                <a:cs typeface="DejaVu Sans"/>
              </a:rPr>
              <a:t>Seven sources, one student view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FD9A71E3-D3CC-4E7B-BEAF-006B69621FF8}"/>
              </a:ext>
            </a:extLst>
          </p:cNvPr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6477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e1291769dc4f76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7399A-CD60-4005-A708-70A80B38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4734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4734F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14734F"/>
                </a:solidFill>
                <a:latin typeface="DejaVu Sans"/>
                <a:ea typeface="DejaVu Sans"/>
                <a:cs typeface="DejaVu Sans"/>
              </a:rPr>
              <a:t>294 / 300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6ED0C-E81D-4C43-9738-949D336C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381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students have complete records</a:t>
            </a:r>
          </a:p>
          <a:p xmlns:a="http://schemas.openxmlformats.org/drawingml/2006/main">
            <a:pPr>
              <a:defRPr sz="1875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across all seven areas.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9D7B9-0957-4508-979F-23801482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14750"/>
            <a:ext cx="3810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CSV preview validates IDs,</a:t>
            </a:r>
          </a:p>
          <a:p xmlns:a="http://schemas.openxmlformats.org/drawingml/2006/main">
            <a:pPr>
              <a:defRPr sz="1800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ranges and missing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Every import records its source</a:t>
            </a:r>
          </a:p>
          <a:p xmlns:a="http://schemas.openxmlformats.org/drawingml/2006/main">
            <a:pPr>
              <a:defRPr sz="1800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and accepted/rejected counts.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BDF03-82F0-465B-AB08-702E10EB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1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17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17A"/>
                </a:solidFill>
                <a:latin typeface="DejaVu Sans"/>
                <a:ea typeface="DejaVu Sans"/>
                <a:cs typeface="DejaVu Sans"/>
              </a:rPr>
              <a:t>Coverage counts describe the included synthetic dataset.</a:t>
            </a:r>
          </a:p>
        </p:txBody>
      </p:sp>
    </p:spTree>
    <p:extLst>
      <p:ext uri="{BB962C8B-B14F-4D97-AF65-F5344CB8AC3E}">
        <p14:creationId xmlns:p14="http://schemas.microsoft.com/office/powerpoint/2010/main" val="19485759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21933-31F0-4943-8909-0362ADE0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3B8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93B8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93B8F"/>
                </a:solidFill>
                <a:latin typeface="DejaVu Sans"/>
                <a:ea typeface="DejaVu Sans"/>
                <a:cs typeface="DejaVu Sans"/>
              </a:rPr>
              <a:t>An explainable Student Success Score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3DF88997-15FD-4338-B470-B907FE734E58}"/>
              </a:ext>
            </a:extLst>
          </p:cNvPr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6477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67049a5b524051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1E3655-A988-45E3-B4E9-7EEE0EFA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66875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293B8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293B8F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293B8F"/>
                </a:solidFill>
                <a:latin typeface="DejaVu Sans"/>
                <a:ea typeface="DejaVu Sans"/>
                <a:cs typeface="DejaVu Sans"/>
              </a:rPr>
              <a:t>0–100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8B665-69BD-4416-A4FA-471695ED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Each domain contributes</a:t>
            </a:r>
          </a:p>
          <a:p xmlns:a="http://schemas.openxmlformats.org/drawingml/2006/main">
            <a:pPr>
              <a:defRPr sz="1875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visible points to the score.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05D04-6E1B-4672-9879-CB762283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67125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High risk: below 52</a:t>
            </a:r>
          </a:p>
          <a:p xmlns:a="http://schemas.openxmlformats.org/drawingml/2006/main">
            <a:pPr>
              <a:defRPr sz="1875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Medium: 52 to below 64</a:t>
            </a:r>
          </a:p>
          <a:p xmlns:a="http://schemas.openxmlformats.org/drawingml/2006/main">
            <a:pPr>
              <a:defRPr sz="1875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Low: 64 and above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7B23A-09E7-4774-99A4-8CD47D4E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95875"/>
            <a:ext cx="3905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Missing data remains visible.</a:t>
            </a:r>
          </a:p>
          <a:p xmlns:a="http://schemas.openxmlformats.org/drawingml/2006/main">
            <a:pPr>
              <a:defRPr sz="1725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Independent risk flags explain</a:t>
            </a:r>
          </a:p>
          <a:p xmlns:a="http://schemas.openxmlformats.org/drawingml/2006/main">
            <a:pPr>
              <a:defRPr sz="1725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attendance and readiness concerns.</a:t>
            </a:r>
          </a:p>
        </p:txBody>
      </p:sp>
    </p:spTree>
    <p:extLst>
      <p:ext uri="{BB962C8B-B14F-4D97-AF65-F5344CB8AC3E}">
        <p14:creationId xmlns:p14="http://schemas.microsoft.com/office/powerpoint/2010/main" val="20772542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CDCBB-3CAE-4B91-BF1B-EBE53DF9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3B8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93B8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93B8F"/>
                </a:solidFill>
                <a:latin typeface="DejaVu Sans"/>
                <a:ea typeface="DejaVu Sans"/>
                <a:cs typeface="DejaVu Sans"/>
              </a:rPr>
              <a:t>Risk signals support targeted review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A8A06073-4A3B-4971-BA94-7DDBD2261531}"/>
              </a:ext>
            </a:extLst>
          </p:cNvPr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6477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cdea31c81a46e8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D2F42-39F0-45AD-B982-C8882FF5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66875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293B8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293B8F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293B8F"/>
                </a:solidFill>
                <a:latin typeface="DejaVu Sans"/>
                <a:ea typeface="DejaVu Sans"/>
                <a:cs typeface="DejaVu Sans"/>
              </a:rPr>
              <a:t>65.0 / 100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0B92E-4DEF-4910-A78E-6E073F58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Mean success score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4ED0D-3181-4A3F-8579-71E13714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3905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100 academic flags</a:t>
            </a:r>
          </a:p>
          <a:p xmlns:a="http://schemas.openxmlformats.org/drawingml/2006/main">
            <a:pPr>
              <a:defRPr sz="1875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88 placement flags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41 strong academic performers</a:t>
            </a:r>
          </a:p>
          <a:p xmlns:a="http://schemas.openxmlformats.org/drawingml/2006/main">
            <a:pPr>
              <a:defRPr sz="1875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need placement preparation.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EA464-535A-4027-8158-A001F8E9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1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17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17A"/>
                </a:solidFill>
                <a:latin typeface="DejaVu Sans"/>
                <a:ea typeface="DejaVu Sans"/>
                <a:cs typeface="DejaVu Sans"/>
              </a:rPr>
              <a:t>Synthetic student records. Flag categories overlap.</a:t>
            </a:r>
          </a:p>
        </p:txBody>
      </p:sp>
    </p:spTree>
    <p:extLst>
      <p:ext uri="{BB962C8B-B14F-4D97-AF65-F5344CB8AC3E}">
        <p14:creationId xmlns:p14="http://schemas.microsoft.com/office/powerpoint/2010/main" val="13152528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689E2-2E8F-4FE2-85CF-3CE80855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3B8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93B8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93B8F"/>
                </a:solidFill>
                <a:latin typeface="DejaVu Sans"/>
                <a:ea typeface="DejaVu Sans"/>
                <a:cs typeface="DejaVu Sans"/>
              </a:rPr>
              <a:t>Faculty actions and progress tracking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70D4F-BC38-460D-B2B7-9520B12D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93B8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93B8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93B8F"/>
                </a:solidFill>
                <a:latin typeface="DejaVu Sans"/>
                <a:ea typeface="DejaVu Sans"/>
                <a:cs typeface="DejaVu Sans"/>
              </a:rPr>
              <a:t>1. Identify the student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723A9-04A4-445F-A075-380DCB32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Filter risk, inspect the segment and</a:t>
            </a:r>
          </a:p>
          <a:p xmlns:a="http://schemas.openxmlformats.org/drawingml/2006/main">
            <a:pPr>
              <a:def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review the contributing indicators.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35A46-ACC1-43E7-ADFA-D700FDC1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93B8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93B8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93B8F"/>
                </a:solidFill>
                <a:latin typeface="DejaVu Sans"/>
                <a:ea typeface="DejaVu Sans"/>
                <a:cs typeface="DejaVu Sans"/>
              </a:rPr>
              <a:t>2. Record support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2FA53-910A-40B0-A4BA-3CEAAF80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43425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Assign a concrete mentoring or skill</a:t>
            </a:r>
          </a:p>
          <a:p xmlns:a="http://schemas.openxmlformats.org/drawingml/2006/main">
            <a:pPr>
              <a:def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action, then record completion.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FBE02-7459-4B45-AF59-7D1E001F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4734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734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4734F"/>
                </a:solidFill>
                <a:latin typeface="DejaVu Sans"/>
                <a:ea typeface="DejaVu Sans"/>
                <a:cs typeface="DejaVu Sans"/>
              </a:rPr>
              <a:t>3. Review progress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C53BD-47D2-4B4E-9338-BBC883E1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Save monthly snapshots and compare</a:t>
            </a:r>
          </a:p>
          <a:p xmlns:a="http://schemas.openxmlformats.org/drawingml/2006/main">
            <a:pPr>
              <a:def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scores alongside cohort coverage.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D6A77-DDFA-41A2-BD3F-A9B7012A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4734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4734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734F"/>
                </a:solidFill>
                <a:latin typeface="DejaVu Sans"/>
                <a:ea typeface="DejaVu Sans"/>
                <a:cs typeface="DejaVu Sans"/>
              </a:rPr>
              <a:t>Access follows responsibility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0078B-591E-46D7-82DF-485C2086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00575"/>
            <a:ext cx="476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Admin: all records</a:t>
            </a:r>
          </a:p>
          <a:p xmlns:a="http://schemas.openxmlformats.org/drawingml/2006/main">
            <a:pPr>
              <a:def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Faculty: assigned department</a:t>
            </a:r>
          </a:p>
          <a:p xmlns:a="http://schemas.openxmlformats.org/drawingml/2006/main">
            <a:pPr>
              <a:def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Student: own record 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658DD-FF6C-4907-8C9D-99EE64A3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579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361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17A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17A"/>
                </a:solidFill>
                <a:latin typeface="DejaVu Sans"/>
                <a:ea typeface="DejaVu Sans"/>
                <a:cs typeface="DejaVu Sans"/>
              </a:rPr>
              <a:t>Simulated history illustrates the workflow. It does not prove intervention impact.</a:t>
            </a:r>
          </a:p>
        </p:txBody>
      </p:sp>
    </p:spTree>
    <p:extLst>
      <p:ext uri="{BB962C8B-B14F-4D97-AF65-F5344CB8AC3E}">
        <p14:creationId xmlns:p14="http://schemas.microsoft.com/office/powerpoint/2010/main" val="12071052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C4499-917A-4696-8233-74309F36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3B8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93B8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93B8F"/>
                </a:solidFill>
                <a:latin typeface="DejaVu Sans"/>
                <a:ea typeface="DejaVu Sans"/>
                <a:cs typeface="DejaVu Sans"/>
              </a:rPr>
              <a:t>AI demonstration and evaluation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E6313-9B80-4DFB-B5D4-AF287C10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43075"/>
            <a:ext cx="500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93B8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93B8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93B8F"/>
                </a:solidFill>
                <a:latin typeface="DejaVu Sans"/>
                <a:ea typeface="DejaVu Sans"/>
                <a:cs typeface="DejaVu Sans"/>
              </a:rPr>
              <a:t>Working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48895-9C5F-49F3-916C-2F21C188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5143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Seven CSV sources with validation</a:t>
            </a:r>
          </a:p>
          <a:p xmlns:a="http://schemas.openxmlformats.org/drawingml/2006/main">
            <a:pPr>
              <a:def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Scores, risks and segmentation</a:t>
            </a:r>
          </a:p>
          <a:p xmlns:a="http://schemas.openxmlformats.org/drawingml/2006/main">
            <a:pPr>
              <a:def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Explainable indicators and AI estimates</a:t>
            </a:r>
          </a:p>
          <a:p xmlns:a="http://schemas.openxmlformats.org/drawingml/2006/main">
            <a:pPr>
              <a:def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Monthly trends and support actions</a:t>
            </a:r>
          </a:p>
          <a:p xmlns:a="http://schemas.openxmlformats.org/drawingml/2006/main">
            <a:pPr>
              <a:def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Role checks enforced by the backend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2FDC4-D5F7-420A-BADA-64221671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4307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4734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734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4734F"/>
                </a:solidFill>
                <a:latin typeface="DejaVu Sans"/>
                <a:ea typeface="DejaVu Sans"/>
                <a:cs typeface="DejaVu Sans"/>
              </a:rPr>
              <a:t>Before institutional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B7743-713A-4664-B2A4-2B42F5A9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857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Collect approved historical outcomes.</a:t>
            </a:r>
          </a:p>
          <a:p xmlns:a="http://schemas.openxmlformats.org/drawingml/2006/main">
            <a:pPr>
              <a:def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Validate and calibrate the models.</a:t>
            </a:r>
          </a:p>
          <a:p xmlns:a="http://schemas.openxmlformats.org/drawingml/2006/main">
            <a:pPr>
              <a:def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Review subgroup errors with faculty.</a:t>
            </a:r>
          </a:p>
          <a:p xmlns:a="http://schemas.openxmlformats.org/drawingml/2006/main">
            <a:pPr>
              <a:def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83755"/>
                </a:solidFill>
                <a:latin typeface="DejaVu Sans"/>
                <a:ea typeface="DejaVu Sans"/>
                <a:cs typeface="DejaVu Sans"/>
              </a:rPr>
              <a:t>Use persistent database hosting.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6A60C-2669-4C04-B77C-B146F796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8B4B2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8B4B2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8B4B21"/>
                </a:solidFill>
                <a:latin typeface="DejaVu Sans"/>
                <a:ea typeface="DejaVu Sans"/>
                <a:cs typeface="DejaVu Sans"/>
              </a:rPr>
              <a:t>The bundled AI uses synthetic training data.</a:t>
            </a:r>
          </a:p>
          <a:p xmlns:a="http://schemas.openxmlformats.org/drawingml/2006/main">
            <a:pPr>
              <a:defRPr sz="1875" b="0">
                <a:solidFill>
                  <a:srgbClr val="8B4B2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8B4B21"/>
                </a:solidFill>
                <a:latin typeface="DejaVu Sans"/>
                <a:ea typeface="DejaVu Sans"/>
                <a:cs typeface="DejaVu Sans"/>
              </a:rPr>
              <a:t>Real-world predictive accuracy remains unverified.</a:t>
            </a:r>
          </a:p>
        </p:txBody>
      </p:sp>
    </p:spTree>
    <p:extLst>
      <p:ext uri="{BB962C8B-B14F-4D97-AF65-F5344CB8AC3E}">
        <p14:creationId xmlns:p14="http://schemas.microsoft.com/office/powerpoint/2010/main" val="6338504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2026-10-12T18:08:55.7130000Z</dcterms:created>
  <dcterms:modified xsi:type="dcterms:W3CDTF">2026-10-12T18:08:55.7130000Z</dcterms:modified>
</coreProperties>
</file>